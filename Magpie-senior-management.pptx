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371600"/>
            <a:ext cx="1371600" cy="1371600"/>
          </a:xfrm>
          <a:prstGeom prst="ellipse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8722" y="1800225"/>
            <a:ext cx="600075" cy="514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8703" y="1543050"/>
            <a:ext cx="364331" cy="3643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7310" y="1950243"/>
            <a:ext cx="214312" cy="150018"/>
          </a:xfrm>
          <a:prstGeom prst="ellipse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2997" y="1628775"/>
            <a:ext cx="107156" cy="107156"/>
          </a:xfrm>
          <a:prstGeom prst="ellipse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Aptos"/>
              </a:rPr>
              <a:t>Magpie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E7DFEA"/>
                </a:solidFill>
                <a:latin typeface="Aptos"/>
              </a:rPr>
              <a:t>Capturing how work actually gets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94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C69ECF"/>
                </a:solidFill>
                <a:latin typeface="Aptos"/>
              </a:rPr>
              <a:t>Process capture for Virgin Media O2   ·   Pilot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B4AA0"/>
                </a:solidFill>
                <a:latin typeface="Apto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C1620"/>
                </a:solidFill>
                <a:latin typeface="Aptos"/>
              </a:rPr>
              <a:t>Our processes are not written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A5060"/>
                </a:solidFill>
                <a:latin typeface="Aptos"/>
              </a:rPr>
              <a:t>They live in people’s heads — and walk out of the door with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712D85"/>
                </a:solidFill>
                <a:latin typeface="Aptos"/>
              </a:rPr>
              <a:t>Knowledge is tacit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The people who run a process can do it perfectly and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cannot tell you how. It was never documented.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834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712D85"/>
                </a:solidFill>
                <a:latin typeface="Aptos"/>
              </a:rPr>
              <a:t>Workshops are expensive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Half a day, a room of people, a facilitator — and an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account shaped by whoever spoke loudest.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146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834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712D85"/>
                </a:solidFill>
                <a:latin typeface="Aptos"/>
              </a:rPr>
              <a:t>Detail gets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8328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The £25 limit, the spreadsheet nobody mentions, the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queue where work waits. That is where the value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B4AA0"/>
                </a:solidFill>
                <a:latin typeface="Aptos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C1620"/>
                </a:solidFill>
                <a:latin typeface="Aptos"/>
              </a:rPr>
              <a:t>A structured interview that writes the specification.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0">
                <a:solidFill>
                  <a:srgbClr val="1C1620"/>
                </a:solidFill>
                <a:latin typeface="Aptos"/>
              </a:rPr>
              <a:t>Magpie sends one link to the person who does the work. It talks to them for about half an hour — warm, plain English, one question at a time — and turns what they say into a process specification a modeller can draft into ARIS.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3383280" cy="502920"/>
          </a:xfrm>
          <a:prstGeom prst="roundRect">
            <a:avLst>
              <a:gd name="adj" fmla="val 50000"/>
            </a:avLst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No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One person, one link, at their desk.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931920"/>
            <a:ext cx="3383280" cy="502920"/>
          </a:xfrm>
          <a:prstGeom prst="roundRect">
            <a:avLst>
              <a:gd name="adj" fmla="val 50000"/>
            </a:avLst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25–40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Not half a day of six people’s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383280" cy="502920"/>
          </a:xfrm>
          <a:prstGeom prst="roundRect">
            <a:avLst>
              <a:gd name="adj" fmla="val 50000"/>
            </a:avLst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Every answer attributed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You always know who said what.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B4AA0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C1620"/>
                </a:solidFill>
                <a:latin typeface="Aptos"/>
              </a:rPr>
              <a:t>Three steps, one link.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14600"/>
            <a:ext cx="658368" cy="658368"/>
          </a:xfrm>
          <a:prstGeom prst="ellipse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C1620"/>
                </a:solidFill>
                <a:latin typeface="Aptos"/>
              </a:rPr>
              <a:t>Issue a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An architect creates a campaign and sends a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private link to each person who does the work.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2514600"/>
            <a:ext cx="658368" cy="658368"/>
          </a:xfrm>
          <a:prstGeom prst="ellipse">
            <a:avLst/>
          </a:prstGeom>
          <a:solidFill>
            <a:srgbClr val="005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383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C1620"/>
                </a:solidFill>
                <a:latin typeface="Aptos"/>
              </a:rPr>
              <a:t>The interview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88620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Magpie asks about twelve aspects of the process,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adapting to what they have already told it.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2514600"/>
            <a:ext cx="658368" cy="658368"/>
          </a:xfrm>
          <a:prstGeom prst="ellipse">
            <a:avLst/>
          </a:prstGeom>
          <a:solidFill>
            <a:srgbClr val="45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383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C1620"/>
                </a:solidFill>
                <a:latin typeface="Aptos"/>
              </a:rPr>
              <a:t>The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88620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A structured document per person, per process 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A5060"/>
                </a:solidFill>
                <a:latin typeface="Aptos"/>
              </a:rPr>
              <a:t>downloadable, and drawn as a process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B4AA0"/>
                </a:solidFill>
                <a:latin typeface="Aptos"/>
              </a:rPr>
              <a:t>THE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C1620"/>
                </a:solidFill>
                <a:latin typeface="Aptos"/>
              </a:rPr>
              <a:t>It knows what it still needs to 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5778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712D85"/>
                </a:solidFill>
                <a:latin typeface="Aptos"/>
              </a:rPr>
              <a:t>Twelve aspects of a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0896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Purpose and boundaries  ·  Who is involved  ·  What sets it off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What goes in and out  ·  The steps  ·  The rules and limits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The records  ·  The systems  ·  Risk and controls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Exceptions  ·  Volumes and targets  ·  Bottlenecks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0749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Each is broken into specific things to establish — forty in all — and the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interviewee can see on screen exactly what is still outstanding.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28600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F7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6060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712D85"/>
                </a:solidFill>
                <a:latin typeface="Aptos"/>
              </a:rPr>
              <a:t>It will not guess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1546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C1620"/>
                </a:solidFill>
                <a:latin typeface="Aptos"/>
              </a:rPr>
              <a:t>“I don’t know” is a good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4472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5A5060"/>
                </a:solidFill>
                <a:latin typeface="Aptos"/>
              </a:rPr>
              <a:t>Recorded as unknown and flagged for someone who does.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0507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C1620"/>
                </a:solidFill>
                <a:latin typeface="Aptos"/>
              </a:rPr>
              <a:t>It probes to the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343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5A5060"/>
                </a:solidFill>
                <a:latin typeface="Aptos"/>
              </a:rPr>
              <a:t>“It gets approved” is not an answer. £25? £500? Who signs?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9469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C1620"/>
                </a:solidFill>
                <a:latin typeface="Aptos"/>
              </a:rPr>
              <a:t>It never leads.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23951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5A5060"/>
                </a:solidFill>
                <a:latin typeface="Aptos"/>
              </a:rPr>
              <a:t>It records the process as performed, not as it should 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B4AA0"/>
                </a:solidFill>
                <a:latin typeface="Aptos"/>
              </a:rPr>
              <a:t>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C1620"/>
                </a:solidFill>
                <a:latin typeface="Aptos"/>
              </a:rPr>
              <a:t>A specification, and a picture.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1206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712D85"/>
                </a:solidFill>
                <a:latin typeface="Aptos"/>
              </a:rPr>
              <a:t>The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0896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One document per person, per process. Twelve sections, every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statement attributed, and an explicit list of what the interview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did not settle.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/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Downloads as Markdown for the modeller.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074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712D85"/>
                </a:solidFill>
                <a:latin typeface="Aptos"/>
              </a:rPr>
              <a:t>The process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The same evidence drawn as a BPMN diagram — swimlanes,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decisions, exceptions — with bottlenecks marked where the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informant described them.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/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1620"/>
                </a:solidFill>
                <a:latin typeface="Aptos"/>
              </a:rPr>
              <a:t>Exports as BPMN 2.0, ready for ARIS.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B4AA0"/>
                </a:solidFill>
                <a:latin typeface="Aptos"/>
              </a:rPr>
              <a:t>WHAT MAKES IT 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C1620"/>
                </a:solidFill>
                <a:latin typeface="Aptos"/>
              </a:rPr>
              <a:t>Every line can tell you where it came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0515600" cy="1417320"/>
          </a:xfrm>
          <a:prstGeom prst="roundRect">
            <a:avLst>
              <a:gd name="adj" fmla="val 4000"/>
            </a:avLst>
          </a:prstGeom>
          <a:solidFill>
            <a:srgbClr val="F7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C1620"/>
                </a:solidFill>
                <a:latin typeface="Aptos"/>
              </a:rPr>
              <a:t>“That form contains approximately 200 questions; the advisor is only presented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C1620"/>
                </a:solidFill>
                <a:latin typeface="Aptos"/>
              </a:rPr>
              <a:t>with the next relevant question at any point.”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2724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8B4AA0"/>
                </a:solidFill>
                <a:latin typeface="Aptos"/>
              </a:rPr>
              <a:t>Bottleneck  ·  Facet 7  ·  stated by Matthew Ebanks, Customer Service Team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712D85"/>
                </a:solidFill>
                <a:latin typeface="Aptos"/>
              </a:rPr>
              <a:t>Attributed, never averaged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Two people describing the same process differently is a finding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for a human, not a number to average away.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9776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712D85"/>
                </a:solidFill>
                <a:latin typeface="Aptos"/>
              </a:rPr>
              <a:t>No silent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4348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Every aspect ends answered, honestly unknown, or not applicable.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Nothing is quietly left blank.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9776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712D85"/>
                </a:solidFill>
                <a:latin typeface="Aptos"/>
              </a:rPr>
              <a:t>Nothing invented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4348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If the interview did not establish it, the document says so 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and the diagram leaves it 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B4AA0"/>
                </a:solidFill>
                <a:latin typeface="Aptos"/>
              </a:rPr>
              <a:t>WHERE IT IS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C1620"/>
                </a:solidFill>
                <a:latin typeface="Aptos"/>
              </a:rPr>
              <a:t>Built, tested, and ready to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712D85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aspects captured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per interview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377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6974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712D85"/>
                </a:solidFill>
                <a:latin typeface="Aptos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4290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specific things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established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974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712D85"/>
                </a:solidFill>
                <a:latin typeface="Aptos"/>
              </a:rPr>
              <a:t>25–40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4290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minutes, against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a half-day workshop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377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C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6974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712D85"/>
                </a:solidFill>
                <a:latin typeface="Aptos"/>
              </a:rPr>
              <a:t>200+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4290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automated tests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5A5060"/>
                </a:solidFill>
                <a:latin typeface="Aptos"/>
              </a:rPr>
              <a:t>before each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C1620"/>
                </a:solidFill>
                <a:latin typeface="Aptos"/>
              </a:rPr>
              <a:t>Proven end to end on a real interview — a fraud resolution process captured from a Customer Service Team Manager, producing a full specification and a process map with fourteen evidenced bottlenecks.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B4AA0"/>
                </a:solidFill>
                <a:latin typeface="Aptos"/>
              </a:rPr>
              <a:t>WHAT IT DELIBERATELY DOES NOT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C1620"/>
                </a:solidFill>
                <a:latin typeface="Aptos"/>
              </a:rPr>
              <a:t>The limits are the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50292" cy="960120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C1620"/>
                </a:solidFill>
                <a:latin typeface="Aptos"/>
              </a:rPr>
              <a:t>It does not recommend changes —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Magpie can propose improvements from the bottlenecks it finds. That is switched off, because a person must approve each one before it reaches a report. Machine-generated advice arriving unreviewed is how you lose trust in the whole 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03320"/>
            <a:ext cx="50292" cy="960120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C1620"/>
                </a:solidFill>
                <a:latin typeface="Aptos"/>
              </a:rPr>
              <a:t>It does not replace the modeller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87368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It produces the evidence and the first draft. A human draws the model and decides what it means.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029200"/>
            <a:ext cx="50292" cy="960120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C1620"/>
                </a:solidFill>
                <a:latin typeface="Aptos"/>
              </a:rPr>
              <a:t>It does not merge 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13248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5A5060"/>
                </a:solidFill>
                <a:latin typeface="Aptos"/>
              </a:rPr>
              <a:t>Two informants who disagree stay disagreeing, visibly, until someone resolves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188720"/>
            <a:ext cx="960120" cy="960120"/>
          </a:xfrm>
          <a:prstGeom prst="ellipse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993" y="1488757"/>
            <a:ext cx="420052" cy="36004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980" y="1308735"/>
            <a:ext cx="255031" cy="2550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005" y="1593770"/>
            <a:ext cx="150018" cy="105013"/>
          </a:xfrm>
          <a:prstGeom prst="ellipse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2986" y="1368742"/>
            <a:ext cx="75009" cy="75009"/>
          </a:xfrm>
          <a:prstGeom prst="ellipse">
            <a:avLst/>
          </a:prstGeom>
          <a:solidFill>
            <a:srgbClr val="712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ptos"/>
              </a:rPr>
              <a:t>One link. One conversation.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ptos"/>
              </a:rPr>
              <a:t>One specification.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E7DFEA"/>
                </a:solidFill>
                <a:latin typeface="Aptos"/>
              </a:rPr>
              <a:t>Ready to pilot with a first cohort of process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